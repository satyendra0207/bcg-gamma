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86.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1"/>
    <p:sldMasterId id="2147485185" r:id="rId2"/>
  </p:sldMasterIdLst>
  <p:notesMasterIdLst>
    <p:notesMasterId r:id="rId4"/>
  </p:notesMasterIdLst>
  <p:handoutMasterIdLst>
    <p:handoutMasterId r:id="rId5"/>
  </p:handoutMasterIdLst>
  <p:sldIdLst>
    <p:sldId id="362" r:id="rId3"/>
  </p:sldIdLst>
  <p:sldSz cx="12192000" cy="6858000"/>
  <p:notesSz cx="6950075" cy="9236075"/>
  <p:custShowLst>
    <p:custShow name="Format Guide Workshop" id="0">
      <p:sldLst/>
    </p:custShow>
  </p:custShowLst>
  <p:custDataLst>
    <p:tags r:id="rId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29" autoAdjust="0"/>
    <p:restoredTop sz="96327" autoAdjust="0"/>
  </p:normalViewPr>
  <p:slideViewPr>
    <p:cSldViewPr snapToGrid="0">
      <p:cViewPr varScale="1">
        <p:scale>
          <a:sx n="63" d="100"/>
          <a:sy n="63" d="100"/>
        </p:scale>
        <p:origin x="708" y="4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39601" cy="39601"/>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2/25/2022</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2/25/2022</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t>Notes view: </a:t>
            </a:r>
            <a:fld id="{128CEAFE-FA94-43E5-B0FF-D47E1CCDD1B4}" type="slidenum">
              <a:rPr lang="en-US" smtClean="0"/>
              <a:pPr/>
              <a:t>0</a:t>
            </a:fld>
            <a:endParaRPr lang="en-US" dirty="0"/>
          </a:p>
        </p:txBody>
      </p:sp>
    </p:spTree>
    <p:extLst>
      <p:ext uri="{BB962C8B-B14F-4D97-AF65-F5344CB8AC3E}">
        <p14:creationId xmlns:p14="http://schemas.microsoft.com/office/powerpoint/2010/main" val="266130848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4.xml"/><Relationship Id="rId7" Type="http://schemas.openxmlformats.org/officeDocument/2006/relationships/oleObject" Target="../embeddings/oleObject2.bin"/><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slideMaster" Target="../slideMasters/slideMaster1.xml"/><Relationship Id="rId5" Type="http://schemas.openxmlformats.org/officeDocument/2006/relationships/tags" Target="../tags/tag6.xml"/><Relationship Id="rId10" Type="http://schemas.openxmlformats.org/officeDocument/2006/relationships/image" Target="../media/image4.jpg"/><Relationship Id="rId4" Type="http://schemas.openxmlformats.org/officeDocument/2006/relationships/tags" Target="../tags/tag5.xml"/><Relationship Id="rId9"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8.png"/><Relationship Id="rId2" Type="http://schemas.openxmlformats.org/officeDocument/2006/relationships/tags" Target="../tags/tag17.xml"/><Relationship Id="rId1" Type="http://schemas.openxmlformats.org/officeDocument/2006/relationships/vmlDrawing" Target="../drawings/vmlDrawing3.vml"/><Relationship Id="rId6" Type="http://schemas.openxmlformats.org/officeDocument/2006/relationships/image" Target="../media/image7.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vmlDrawing" Target="../drawings/vmlDrawing4.vml"/><Relationship Id="rId6" Type="http://schemas.openxmlformats.org/officeDocument/2006/relationships/image" Target="../media/image9.png"/><Relationship Id="rId5" Type="http://schemas.openxmlformats.org/officeDocument/2006/relationships/image" Target="../media/image7.emf"/><Relationship Id="rId4" Type="http://schemas.openxmlformats.org/officeDocument/2006/relationships/oleObject" Target="../embeddings/oleObject4.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32.xml"/><Relationship Id="rId7" Type="http://schemas.openxmlformats.org/officeDocument/2006/relationships/image" Target="../media/image2.emf"/><Relationship Id="rId2" Type="http://schemas.openxmlformats.org/officeDocument/2006/relationships/tags" Target="../tags/tag31.xml"/><Relationship Id="rId1" Type="http://schemas.openxmlformats.org/officeDocument/2006/relationships/vmlDrawing" Target="../drawings/vmlDrawing5.v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3.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36.xml"/><Relationship Id="rId7" Type="http://schemas.openxmlformats.org/officeDocument/2006/relationships/oleObject" Target="../embeddings/oleObject6.bin"/><Relationship Id="rId2" Type="http://schemas.openxmlformats.org/officeDocument/2006/relationships/tags" Target="../tags/tag35.xml"/><Relationship Id="rId1" Type="http://schemas.openxmlformats.org/officeDocument/2006/relationships/vmlDrawing" Target="../drawings/vmlDrawing6.vml"/><Relationship Id="rId6" Type="http://schemas.openxmlformats.org/officeDocument/2006/relationships/slideMaster" Target="../slideMasters/slideMaster1.xml"/><Relationship Id="rId5" Type="http://schemas.openxmlformats.org/officeDocument/2006/relationships/tags" Target="../tags/tag38.xml"/><Relationship Id="rId10" Type="http://schemas.openxmlformats.org/officeDocument/2006/relationships/image" Target="../media/image4.jpg"/><Relationship Id="rId4" Type="http://schemas.openxmlformats.org/officeDocument/2006/relationships/tags" Target="../tags/tag37.xml"/><Relationship Id="rId9"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image" Target="../media/image5.png"/><Relationship Id="rId2" Type="http://schemas.openxmlformats.org/officeDocument/2006/relationships/tags" Target="../tags/tag48.xml"/><Relationship Id="rId1" Type="http://schemas.openxmlformats.org/officeDocument/2006/relationships/vmlDrawing" Target="../drawings/vmlDrawing7.vml"/><Relationship Id="rId6" Type="http://schemas.openxmlformats.org/officeDocument/2006/relationships/image" Target="../media/image7.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vmlDrawing" Target="../drawings/vmlDrawing8.vml"/><Relationship Id="rId6" Type="http://schemas.openxmlformats.org/officeDocument/2006/relationships/image" Target="../media/image9.png"/><Relationship Id="rId5" Type="http://schemas.openxmlformats.org/officeDocument/2006/relationships/image" Target="../media/image2.emf"/><Relationship Id="rId4" Type="http://schemas.openxmlformats.org/officeDocument/2006/relationships/oleObject" Target="../embeddings/oleObject8.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66.xml"/><Relationship Id="rId7" Type="http://schemas.openxmlformats.org/officeDocument/2006/relationships/image" Target="../media/image2.emf"/><Relationship Id="rId2" Type="http://schemas.openxmlformats.org/officeDocument/2006/relationships/tags" Target="../tags/tag65.xml"/><Relationship Id="rId1" Type="http://schemas.openxmlformats.org/officeDocument/2006/relationships/vmlDrawing" Target="../drawings/vmlDrawing9.vml"/><Relationship Id="rId6" Type="http://schemas.openxmlformats.org/officeDocument/2006/relationships/oleObject" Target="../embeddings/oleObject9.bin"/><Relationship Id="rId5" Type="http://schemas.openxmlformats.org/officeDocument/2006/relationships/slideMaster" Target="../slideMasters/slideMaster1.xml"/><Relationship Id="rId4" Type="http://schemas.openxmlformats.org/officeDocument/2006/relationships/tags" Target="../tags/tag67.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62.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3.png"/><Relationship Id="rId2" Type="http://schemas.openxmlformats.org/officeDocument/2006/relationships/tags" Target="../tags/tag73.xml"/><Relationship Id="rId1" Type="http://schemas.openxmlformats.org/officeDocument/2006/relationships/vmlDrawing" Target="../drawings/vmlDrawing13.vml"/><Relationship Id="rId6" Type="http://schemas.openxmlformats.org/officeDocument/2006/relationships/image" Target="../media/image1.emf"/><Relationship Id="rId5" Type="http://schemas.openxmlformats.org/officeDocument/2006/relationships/oleObject" Target="../embeddings/oleObject13.bin"/><Relationship Id="rId4"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14.bin"/><Relationship Id="rId4"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7.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8.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66.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image" Target="../media/image3.png"/><Relationship Id="rId2" Type="http://schemas.openxmlformats.org/officeDocument/2006/relationships/tags" Target="../tags/tag79.xml"/><Relationship Id="rId1" Type="http://schemas.openxmlformats.org/officeDocument/2006/relationships/vmlDrawing" Target="../drawings/vmlDrawing17.vml"/><Relationship Id="rId6" Type="http://schemas.openxmlformats.org/officeDocument/2006/relationships/image" Target="../media/image1.emf"/><Relationship Id="rId5" Type="http://schemas.openxmlformats.org/officeDocument/2006/relationships/oleObject" Target="../embeddings/oleObject17.bin"/><Relationship Id="rId4"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1.xml"/><Relationship Id="rId1" Type="http://schemas.openxmlformats.org/officeDocument/2006/relationships/vmlDrawing" Target="../drawings/vmlDrawing18.v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18.bin"/></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2.xml"/><Relationship Id="rId1" Type="http://schemas.openxmlformats.org/officeDocument/2006/relationships/tags" Target="../tags/tag8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2.xml"/><Relationship Id="rId1" Type="http://schemas.openxmlformats.org/officeDocument/2006/relationships/tags" Target="../tags/tag84.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8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2217" name="think-cell Slide" r:id="rId7" imgW="384" imgH="384" progId="TCLayout.ActiveDocument.1">
                  <p:embed/>
                </p:oleObj>
              </mc:Choice>
              <mc:Fallback>
                <p:oleObj name="think-cell Slide" r:id="rId7" imgW="384" imgH="38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9">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4"/>
            </p:custDataLst>
          </p:nvPr>
        </p:nvPicPr>
        <p:blipFill rotWithShape="1">
          <a:blip r:embed="rId10">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5"/>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6179" name="think-cell Slide" r:id="rId5" imgW="324" imgH="324" progId="TCLayout.ActiveDocument.1">
                  <p:embed/>
                </p:oleObj>
              </mc:Choice>
              <mc:Fallback>
                <p:oleObj name="think-cell Slide" r:id="rId5" imgW="324" imgH="32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8226"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6">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0199"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3"/>
            </p:custDataLst>
          </p:nvPr>
        </p:nvPicPr>
        <p:blipFill>
          <a:blip r:embed="rId8">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4"/>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3241" name="think-cell Slide" r:id="rId7" imgW="384" imgH="384" progId="TCLayout.ActiveDocument.1">
                  <p:embed/>
                </p:oleObj>
              </mc:Choice>
              <mc:Fallback>
                <p:oleObj name="think-cell Slide" r:id="rId7" imgW="384" imgH="38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9">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4"/>
            </p:custDataLst>
          </p:nvPr>
        </p:nvPicPr>
        <p:blipFill rotWithShape="1">
          <a:blip r:embed="rId10">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5"/>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7203" name="think-cell Slide" r:id="rId5" imgW="324" imgH="324" progId="TCLayout.ActiveDocument.1">
                  <p:embed/>
                </p:oleObj>
              </mc:Choice>
              <mc:Fallback>
                <p:oleObj name="think-cell Slide" r:id="rId5" imgW="324" imgH="32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9248"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6">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1221"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3"/>
            </p:custDataLst>
          </p:nvPr>
        </p:nvPicPr>
        <p:blipFill>
          <a:blip r:embed="rId8">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4"/>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5958" name="think-cell Slide" r:id="rId5" imgW="270" imgH="270" progId="TCLayout.ActiveDocument.1">
                  <p:embed/>
                </p:oleObj>
              </mc:Choice>
              <mc:Fallback>
                <p:oleObj name="think-cell Slide" r:id="rId5" imgW="270" imgH="270" progId="TCLayout.ActiveDocument.1">
                  <p:embed/>
                  <p:pic>
                    <p:nvPicPr>
                      <p:cNvPr id="3" name="Objec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3"/>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6982"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8006"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9030"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0054"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3"/>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1078"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2102"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3126"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4150"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536177685"/>
      </p:ext>
    </p:extLst>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264186161"/>
      </p:ext>
    </p:extLst>
  </p:cSld>
  <p:clrMapOvr>
    <a:masterClrMapping/>
  </p:clrMapOvr>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850250902"/>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17893327"/>
      </p:ext>
    </p:extLst>
  </p:cSld>
  <p:clrMapOvr>
    <a:masterClrMapping/>
  </p:clrMapOvr>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644568177"/>
      </p:ext>
    </p:extLst>
  </p:cSld>
  <p:clrMapOvr>
    <a:masterClrMapping/>
  </p:clrMapOvr>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7" name="Copyright">
            <a:extLst>
              <a:ext uri="{FF2B5EF4-FFF2-40B4-BE49-F238E27FC236}">
                <a16:creationId xmlns:a16="http://schemas.microsoft.com/office/drawing/2014/main" id="{1C3EEDD3-758A-45DC-BAF8-49ED8895C345}"/>
              </a:ext>
            </a:extLst>
          </p:cNvPr>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9" name="FooterSimple" hidden="1">
            <a:extLst>
              <a:ext uri="{FF2B5EF4-FFF2-40B4-BE49-F238E27FC236}">
                <a16:creationId xmlns:a16="http://schemas.microsoft.com/office/drawing/2014/main" id="{8725DD7D-40E9-4618-913D-624850884D26}"/>
              </a:ext>
            </a:extLst>
          </p:cNvPr>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03189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
        <p:nvSpPr>
          <p:cNvPr id="6" name="Copyright">
            <a:extLst>
              <a:ext uri="{FF2B5EF4-FFF2-40B4-BE49-F238E27FC236}">
                <a16:creationId xmlns:a16="http://schemas.microsoft.com/office/drawing/2014/main" id="{292929DC-F82F-442D-9224-EECD293020C9}"/>
              </a:ext>
            </a:extLst>
          </p:cNvPr>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FooterSimple" hidden="1">
            <a:extLst>
              <a:ext uri="{FF2B5EF4-FFF2-40B4-BE49-F238E27FC236}">
                <a16:creationId xmlns:a16="http://schemas.microsoft.com/office/drawing/2014/main" id="{89B9A580-B807-4633-88DA-36987DBB8831}"/>
              </a:ext>
            </a:extLst>
          </p:cNvPr>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030119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452083516"/>
      </p:ext>
    </p:extLst>
  </p:cSld>
  <p:clrMapOvr>
    <a:masterClrMapping/>
  </p:clrMapOvr>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826977618"/>
      </p:ext>
    </p:extLst>
  </p:cSld>
  <p:clrMapOvr>
    <a:masterClrMapping/>
  </p:clrMapOvr>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89666154"/>
      </p:ext>
    </p:extLst>
  </p:cSld>
  <p:clrMapOvr>
    <a:masterClrMapping/>
  </p:clrMapOvr>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384663742"/>
      </p:ext>
    </p:extLst>
  </p:cSld>
  <p:clrMapOvr>
    <a:masterClrMapping/>
  </p:clrMapOvr>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35063345"/>
      </p:ext>
    </p:extLst>
  </p:cSld>
  <p:clrMapOvr>
    <a:masterClrMapping/>
  </p:clrMapOvr>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948904342"/>
      </p:ext>
    </p:extLst>
  </p:cSld>
  <p:clrMapOvr>
    <a:masterClrMapping/>
  </p:clrMapOvr>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975791580"/>
      </p:ext>
    </p:extLst>
  </p:cSld>
  <p:clrMapOvr>
    <a:masterClrMapping/>
  </p:clrMapOvr>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167152617"/>
      </p:ext>
    </p:extLst>
  </p:cSld>
  <p:clrMapOvr>
    <a:masterClrMapping/>
  </p:clrMapOvr>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864037913"/>
      </p:ext>
    </p:extLst>
  </p:cSld>
  <p:clrMapOvr>
    <a:masterClrMapping/>
  </p:clrMapOvr>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220039383"/>
      </p:ext>
    </p:extLst>
  </p:cSld>
  <p:clrMapOvr>
    <a:masterClrMapping/>
  </p:clrMapOvr>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11524333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vmlDrawing" Target="../drawings/vmlDrawing1.v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slideLayout" Target="../slideLayouts/slideLayout85.xml"/><Relationship Id="rId3" Type="http://schemas.openxmlformats.org/officeDocument/2006/relationships/slideLayout" Target="../slideLayouts/slideLayout70.xml"/><Relationship Id="rId21" Type="http://schemas.openxmlformats.org/officeDocument/2006/relationships/tags" Target="../tags/tag82.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0" Type="http://schemas.openxmlformats.org/officeDocument/2006/relationships/vmlDrawing" Target="../drawings/vmlDrawing19.v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24" Type="http://schemas.openxmlformats.org/officeDocument/2006/relationships/image" Target="../media/image1.emf"/><Relationship Id="rId5" Type="http://schemas.openxmlformats.org/officeDocument/2006/relationships/slideLayout" Target="../slideLayouts/slideLayout72.xml"/><Relationship Id="rId15" Type="http://schemas.openxmlformats.org/officeDocument/2006/relationships/slideLayout" Target="../slideLayouts/slideLayout82.xml"/><Relationship Id="rId23" Type="http://schemas.openxmlformats.org/officeDocument/2006/relationships/oleObject" Target="../embeddings/oleObject1.bin"/><Relationship Id="rId10" Type="http://schemas.openxmlformats.org/officeDocument/2006/relationships/slideLayout" Target="../slideLayouts/slideLayout77.xml"/><Relationship Id="rId19" Type="http://schemas.openxmlformats.org/officeDocument/2006/relationships/theme" Target="../theme/theme2.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image" Target="../media/image10.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0"/>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601" name="think-cell Slide" r:id="rId71" imgW="270" imgH="270" progId="TCLayout.ActiveDocument.1">
                  <p:embed/>
                </p:oleObj>
              </mc:Choice>
              <mc:Fallback>
                <p:oleObj name="think-cell Slide" r:id="rId71" imgW="270" imgH="270" progId="TCLayout.ActiveDocument.1">
                  <p:embed/>
                  <p:pic>
                    <p:nvPicPr>
                      <p:cNvPr id="0" name=""/>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graphicFrame>
        <p:nvGraphicFramePr>
          <p:cNvPr id="8" name="Object 7" hidden="1">
            <a:extLst>
              <a:ext uri="{FF2B5EF4-FFF2-40B4-BE49-F238E27FC236}">
                <a16:creationId xmlns:a16="http://schemas.microsoft.com/office/drawing/2014/main" id="{7A0E3BB5-B5F3-4D49-8E1C-438A023E27A9}"/>
              </a:ext>
            </a:extLst>
          </p:cNvPr>
          <p:cNvGraphicFramePr>
            <a:graphicFrameLocks noChangeAspect="1"/>
          </p:cNvGraphicFramePr>
          <p:nvPr userDrawn="1">
            <p:custDataLst>
              <p:tags r:id="rId21"/>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0050" name="think-cell Slide" r:id="rId23" imgW="270" imgH="270" progId="TCLayout.ActiveDocument.1">
                  <p:embed/>
                </p:oleObj>
              </mc:Choice>
              <mc:Fallback>
                <p:oleObj name="think-cell Slide" r:id="rId23" imgW="270" imgH="270" progId="TCLayout.ActiveDocument.1">
                  <p:embed/>
                  <p:pic>
                    <p:nvPicPr>
                      <p:cNvPr id="2" name="Object 1" hidden="1"/>
                      <p:cNvPicPr/>
                      <p:nvPr/>
                    </p:nvPicPr>
                    <p:blipFill>
                      <a:blip r:embed="rId24"/>
                      <a:stretch>
                        <a:fillRect/>
                      </a:stretch>
                    </p:blipFill>
                    <p:spPr>
                      <a:xfrm>
                        <a:off x="1588" y="1588"/>
                        <a:ext cx="1587" cy="1587"/>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0BFA13E1-D6D5-47AE-92ED-5492A5B59793}"/>
              </a:ext>
            </a:extLst>
          </p:cNvPr>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724653483"/>
      </p:ext>
    </p:extLst>
  </p:cSld>
  <p:clrMap bg1="lt1" tx1="dk1" bg2="lt2" tx2="dk2" accent1="accent1" accent2="accent2" accent3="accent3" accent4="accent4" accent5="accent5" accent6="accent6" hlink="hlink" folHlink="folHlink"/>
  <p:sldLayoutIdLst>
    <p:sldLayoutId id="2147485186" r:id="rId1"/>
    <p:sldLayoutId id="2147485187" r:id="rId2"/>
    <p:sldLayoutId id="2147485188" r:id="rId3"/>
    <p:sldLayoutId id="2147485189" r:id="rId4"/>
    <p:sldLayoutId id="2147485190" r:id="rId5"/>
    <p:sldLayoutId id="2147485191" r:id="rId6"/>
    <p:sldLayoutId id="2147485192" r:id="rId7"/>
    <p:sldLayoutId id="2147485193" r:id="rId8"/>
    <p:sldLayoutId id="2147485194" r:id="rId9"/>
    <p:sldLayoutId id="2147485195" r:id="rId10"/>
    <p:sldLayoutId id="2147485196" r:id="rId11"/>
    <p:sldLayoutId id="2147485197" r:id="rId12"/>
    <p:sldLayoutId id="2147485198" r:id="rId13"/>
    <p:sldLayoutId id="2147485199" r:id="rId14"/>
    <p:sldLayoutId id="2147485200" r:id="rId15"/>
    <p:sldLayoutId id="2147485201" r:id="rId16"/>
    <p:sldLayoutId id="2147485202" r:id="rId17"/>
    <p:sldLayoutId id="2147485203" r:id="rId18"/>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5.xml"/><Relationship Id="rId2" Type="http://schemas.openxmlformats.org/officeDocument/2006/relationships/tags" Target="../tags/tag86.xml"/><Relationship Id="rId1" Type="http://schemas.openxmlformats.org/officeDocument/2006/relationships/vmlDrawing" Target="../drawings/vmlDrawing20.vml"/><Relationship Id="rId6" Type="http://schemas.openxmlformats.org/officeDocument/2006/relationships/image" Target="../media/image13.emf"/><Relationship Id="rId5" Type="http://schemas.openxmlformats.org/officeDocument/2006/relationships/oleObject" Target="../embeddings/oleObject19.bin"/><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F175E5EF-88C5-8540-8908-177466FA5B24}"/>
              </a:ext>
            </a:extLst>
          </p:cNvPr>
          <p:cNvGraphicFramePr>
            <a:graphicFrameLocks noChangeAspect="1"/>
          </p:cNvGraphicFramePr>
          <p:nvPr>
            <p:custDataLst>
              <p:tags r:id="rId2"/>
            </p:custDataLst>
            <p:extLst>
              <p:ext uri="{D42A27DB-BD31-4B8C-83A1-F6EECF244321}">
                <p14:modId xmlns:p14="http://schemas.microsoft.com/office/powerpoint/2010/main" val="34527530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9027"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3" name="Title 2"/>
          <p:cNvSpPr>
            <a:spLocks noGrp="1"/>
          </p:cNvSpPr>
          <p:nvPr>
            <p:ph type="title"/>
          </p:nvPr>
        </p:nvSpPr>
        <p:spPr/>
        <p:txBody>
          <a:bodyPr vert="horz"/>
          <a:lstStyle/>
          <a:p>
            <a:r>
              <a:rPr lang="en-US" dirty="0">
                <a:solidFill>
                  <a:srgbClr val="D4DF33"/>
                </a:solidFill>
              </a:rPr>
              <a:t>Executive summary template</a:t>
            </a:r>
          </a:p>
        </p:txBody>
      </p:sp>
      <p:sp>
        <p:nvSpPr>
          <p:cNvPr id="4" name="Text Placeholder 3">
            <a:extLst>
              <a:ext uri="{FF2B5EF4-FFF2-40B4-BE49-F238E27FC236}">
                <a16:creationId xmlns:a16="http://schemas.microsoft.com/office/drawing/2014/main" id="{0E5F306D-D033-0749-8A8A-0FBDE0003FE9}"/>
              </a:ext>
            </a:extLst>
          </p:cNvPr>
          <p:cNvSpPr txBox="1">
            <a:spLocks/>
          </p:cNvSpPr>
          <p:nvPr/>
        </p:nvSpPr>
        <p:spPr>
          <a:xfrm>
            <a:off x="4653944" y="956643"/>
            <a:ext cx="6352558" cy="5901357"/>
          </a:xfrm>
          <a:prstGeom prst="rect">
            <a:avLst/>
          </a:prstGeom>
        </p:spPr>
        <p:txBody>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450900" lvl="1" indent="-342900">
              <a:buClr>
                <a:schemeClr val="tx2">
                  <a:lumMod val="100000"/>
                </a:schemeClr>
              </a:buClr>
              <a:buSzPct val="100000"/>
            </a:pPr>
            <a:r>
              <a:rPr lang="en-US" sz="2400" dirty="0"/>
              <a:t>Churn is indeed high in the SME division • 9.9% between January 2016 and March 2016</a:t>
            </a:r>
          </a:p>
          <a:p>
            <a:pPr marL="450900" lvl="1" indent="-342900">
              <a:buClr>
                <a:schemeClr val="tx2">
                  <a:lumMod val="100000"/>
                </a:schemeClr>
              </a:buClr>
              <a:buSzPct val="100000"/>
            </a:pPr>
            <a:endParaRPr lang="en-US" sz="2400" dirty="0">
              <a:solidFill>
                <a:schemeClr val="tx1">
                  <a:lumMod val="100000"/>
                </a:schemeClr>
              </a:solidFill>
              <a:latin typeface="Trebuchet MS" panose="020B0703020202090204" pitchFamily="34" charset="0"/>
            </a:endParaRPr>
          </a:p>
          <a:p>
            <a:pPr marL="450900" lvl="1" indent="-342900">
              <a:buClr>
                <a:schemeClr val="tx2">
                  <a:lumMod val="100000"/>
                </a:schemeClr>
              </a:buClr>
              <a:buSzPct val="100000"/>
            </a:pPr>
            <a:r>
              <a:rPr lang="en-US" sz="2400" dirty="0"/>
              <a:t>Predictive model able to predict churn but main driver is not customer price sensitivity </a:t>
            </a:r>
          </a:p>
          <a:p>
            <a:pPr marL="108000" lvl="1" indent="0">
              <a:buClr>
                <a:schemeClr val="tx2">
                  <a:lumMod val="100000"/>
                </a:schemeClr>
              </a:buClr>
              <a:buSzPct val="100000"/>
              <a:buNone/>
            </a:pPr>
            <a:r>
              <a:rPr lang="en-US" sz="2400" dirty="0"/>
              <a:t>• Yearly consumption, net margin, and forecasted consumption are the 3 largest drivers</a:t>
            </a:r>
          </a:p>
          <a:p>
            <a:pPr marL="108000" lvl="1" indent="0">
              <a:buClr>
                <a:schemeClr val="tx2">
                  <a:lumMod val="100000"/>
                </a:schemeClr>
              </a:buClr>
              <a:buSzPct val="100000"/>
              <a:buNone/>
            </a:pPr>
            <a:endParaRPr lang="en-US" sz="2400" dirty="0">
              <a:solidFill>
                <a:schemeClr val="tx1">
                  <a:lumMod val="100000"/>
                </a:schemeClr>
              </a:solidFill>
              <a:latin typeface="Trebuchet MS" panose="020B0703020202090204" pitchFamily="34" charset="0"/>
            </a:endParaRPr>
          </a:p>
          <a:p>
            <a:pPr marL="450900" lvl="1" indent="-342900">
              <a:buClr>
                <a:schemeClr val="tx2">
                  <a:lumMod val="100000"/>
                </a:schemeClr>
              </a:buClr>
              <a:buSzPct val="100000"/>
            </a:pPr>
            <a:r>
              <a:rPr lang="en-US" sz="2400" dirty="0"/>
              <a:t>Discount strategy of 20% is effective but only if targeted appropriately • Offer discount only to high -value customers with high churn probability</a:t>
            </a:r>
            <a:endParaRPr lang="en-US" sz="1600" dirty="0">
              <a:solidFill>
                <a:schemeClr val="tx1">
                  <a:lumMod val="100000"/>
                </a:schemeClr>
              </a:solidFill>
              <a:latin typeface="Trebuchet MS" panose="020B0703020202090204" pitchFamily="34" charset="0"/>
            </a:endParaRPr>
          </a:p>
        </p:txBody>
      </p:sp>
    </p:spTree>
    <p:extLst>
      <p:ext uri="{BB962C8B-B14F-4D97-AF65-F5344CB8AC3E}">
        <p14:creationId xmlns:p14="http://schemas.microsoft.com/office/powerpoint/2010/main" val="36693192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3.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TotalTime>
  <Words>78</Words>
  <Application>Microsoft Office PowerPoint</Application>
  <PresentationFormat>Widescreen</PresentationFormat>
  <Paragraphs>8</Paragraphs>
  <Slides>1</Slides>
  <Notes>1</Notes>
  <HiddenSlides>0</HiddenSlides>
  <MMClips>0</MMClips>
  <ScaleCrop>false</ScaleCrop>
  <HeadingPairs>
    <vt:vector size="10"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8" baseType="lpstr">
      <vt:lpstr>Arial</vt:lpstr>
      <vt:lpstr>Trebuchet MS</vt:lpstr>
      <vt:lpstr>Tw Cen MT</vt:lpstr>
      <vt:lpstr>BCG Grid 16:9</vt:lpstr>
      <vt:lpstr>Droplet</vt:lpstr>
      <vt:lpstr>think-cell Slide</vt:lpstr>
      <vt:lpstr>Executive summary template</vt:lpstr>
      <vt:lpstr>Format Guide Workshop</vt:lpstr>
    </vt:vector>
  </TitlesOfParts>
  <Company>The 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The Boston Consulting Group</dc:creator>
  <cp:lastModifiedBy>satyendra singh</cp:lastModifiedBy>
  <cp:revision>448</cp:revision>
  <cp:lastPrinted>2016-04-06T18:59:25Z</cp:lastPrinted>
  <dcterms:created xsi:type="dcterms:W3CDTF">2016-11-04T11:46:04Z</dcterms:created>
  <dcterms:modified xsi:type="dcterms:W3CDTF">2022-02-25T17:10:40Z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ies>
</file>